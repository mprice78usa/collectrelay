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7" r:id="rId28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29"/>
    <p:sldId id="279" r:id="rId30"/>
    <p:sldId id="280" r:id="rId31"/>
    <p:sldId id="281" r:id="rId32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0502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CollectRelay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0584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Walkthrough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detailed how-to guide for professionals and their clients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4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 SIDE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agent/professional dashboard for managing transactions, reviewing documents, and tracking progress.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1-dashbo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command center. Shows active/in-review/completed transaction counts, pipeline value, expected commissions, pending sales with progress bars, and a real-time activity feed of all client actions.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2-transactio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Transactions List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your document collection requests in one place. Filter by status (Active, In Review, Completed, Cancelled). Each card shows client name, email, progress bar, due date, and status badge.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3-txn-head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Transaction Detail — Header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transaction title, client info, progress tracker (2/8 items), sale price, commission, due date, and custom fields (Escrow Company, Loan Officer, MLS#). Action bar: Invite, Download All, Resend Email, Copy Link, Nudge, Mark In Review, Cancel.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4-txn-checkli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Checklist — Accepted Item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1 shows ACCEPTED status with the uploaded file, AI-generated summary (star icon), and a green review note. The AI summary reads the document and produces a 1-2 sentence description so you can triage without opening every file.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5-txn-re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Checklist — Review Actions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is SUBMITTED with two uploaded files. One file has a completed AI summary, the other shows "Analyzing..." (in progress). Three action buttons: Accept (green), Reject (red), Waive (blue). Click to review each submitted item.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6-txn-more-item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Checklist — Questions, Checkboxes &amp; Signatures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1687550"/>
            <a:ext cx="2468880" cy="137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6: Question type showing the client's text answer. Item 7: Checkbox type showing the client's confirmation. Item 8: Signature type — awaiting the client's e-signature via draw or type mode.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7-txn-mileston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Dates &amp; Milestones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36702"/>
            <a:ext cx="2468880" cy="1547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of key dates: Contract Date, Inspection Deadline, Appraisal Due, Financing Contingency, Closing. Check off completed milestones. Add custom milestones with the form below. Click "Add to Calendar" to export.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8-txn-partn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Partner Access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partners (lenders, title companies, inspectors) to view transaction progress. Enter name, email, and role. Partners get read-only access to see checklist status without seeing private client documents.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09-new-tx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Create New Transaction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document collection request. Choose a template, enter client info (name, email, phone), set the transaction title, due date, and optional deal details (sale price, commission rate — auto-calculates commission amount).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0-new-txn-templa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Template Selection + Preview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1293544"/>
            <a:ext cx="2468880" cy="1535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select a template (e.g., "Purchase Standard"), the right panel shows a live preview of all checklist items that will be created. Each item shows its type (Doc, Question, Signature) and whether it's required.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1-templat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Templates Library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reusable checklist templates. Four starter templates included: Pre-Approval, Purchase, Refinance, Seller Packet. Filter by category. Duplicate or delete any template. Click "+ New Template" to create custom ones.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2-template-edito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Template Editor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 template's checklist items. Each item shows its name, description, type badge (Document, Question, Signature), and required status. Click the edit icon to modify, trash icon to remove, or "+ Add Item" to add new items.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3-settings-profil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 — Profile &amp; Workspace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your name, company, and phone number. Manage your workspace name and view your role (Owner). Email address is locked to your login credential.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4-settings-noti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 — Billing &amp; Notifications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your current plan and subscription status. Toggle email notifications: Client Submissions (when files/answers arrive), Item Review Reminders (when items await your review), Transaction Completed (when all items are done).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6-settings-webhook-for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 — Webhooks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CollectRelay to any external service (CRM, Zapier, etc.). Enter an endpoint URL, optional description, and select which events to listen for: File Uploaded, Answer Submitted, Signature Submitted, Item Reviewed, Status Changed, Comment Added, Magic Link Sent, Reminder Sent.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4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SIDE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clients see when they open their magic link. No login required — they click the link in their email and land directly on their checklist.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7-client-port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Portal — Overview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91440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see their transaction title, due date, a step-by-step progress tracker (Requested → Uploading → Under Review → Complete), and their checklist. Completed items collapse with a green checkmark. Items needing attention expand with instructions.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576072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/Users/Editor/Documents/APPS/CollectRelay/screenshots/18-client-scrol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365760"/>
            <a:ext cx="5669280" cy="4069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0292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629400" y="365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Portal — Upload &amp; Comments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0" y="1315843"/>
            <a:ext cx="2468880" cy="1457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item shows: red feedback banner if the pro requested changes, a drag-and-drop upload zone (PDF, JPG, PNG up to 50MB), and a comment thread. Clients and pros can message back and forth on any checklist item in real time.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0" y="4754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CollectRelay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688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collection, simplified.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collectrelay.com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eatures Overview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Accent Bar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itle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EVERYTHING YOU NEED</a:t>
            </a:r>
            <a:endParaRPr lang="en-US" sz="2800" dirty="0"/>
          </a:p>
        </p:txBody>
      </p:sp>
      <p:sp>
        <p:nvSpPr>
          <p:cNvPr id="5" name="Subtitle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All-in-one document collection platform for professionals and their clients</a:t>
            </a:r>
            <a:endParaRPr lang="en-US" sz="1400" dirty="0"/>
          </a:p>
        </p:txBody>
      </p:sp>
      <p:sp>
        <p:nvSpPr>
          <p:cNvPr id="6" name="Divider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Left Column"/>
          <p:cNvSpPr/>
          <p:nvPr/>
        </p:nvSpPr>
        <p:spPr>
          <a:xfrm>
            <a:off x="457200" y="1143000"/>
            <a:ext cx="4023360" cy="3748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Transaction Management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Create and track deals with checklists, milestones, partners, and status workflows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Document Collection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Secure client portal for uploading, reviewing, and approving documents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Templates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Save and reuse transaction templates with pre-built checklists and milestones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Reports &amp; Analytics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Pipeline funnel, commission tracker, completion metrics, and activity trends with CSV export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Team Management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Invite team members, assign roles (owner/admin/member), and manage workspace access</a:t>
            </a:r>
          </a:p>
        </p:txBody>
      </p:sp>
      <p:sp>
        <p:nvSpPr>
          <p:cNvPr id="8" name="Right Column"/>
          <p:cNvSpPr/>
          <p:nvPr/>
        </p:nvSpPr>
        <p:spPr>
          <a:xfrm>
            <a:off x="4663440" y="1143000"/>
            <a:ext cx="4023360" cy="3748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Activity Dashboard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Real-time feed of submissions, reviews, and status changes across all transactions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Document Library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Searchable archive of all uploaded documents with filtering and bulk downloads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Bulk Actions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Select multiple transactions to archive, export, change status, or delete in batch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API &amp; Webhooks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REST API with key management, plus webhook integrations for real-time event notifications</a:t>
            </a:r>
          </a:p>
          <a:p>
            <a:pPr marL="0" indent="0">
              <a:buNone/>
              <a:spcAft>
                <a:spcPts val="200"/>
              </a:spcAft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PWA &amp; Push Notifications</a:t>
            </a:r>
          </a:p>
          <a:p>
            <a:pPr marL="0" indent="0">
              <a:buNone/>
              <a:spcAft>
                <a:spcPts val="600"/>
              </a:spcAft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</a:rPr>
              <a:t>Install as a native app on any device with real-time push notifications for updates</a:t>
            </a:r>
          </a:p>
        </p:txBody>
      </p:sp>
      <p:sp>
        <p:nvSpPr>
          <p:cNvPr id="9" name="Column Divider"/>
          <p:cNvSpPr/>
          <p:nvPr/>
        </p:nvSpPr>
        <p:spPr>
          <a:xfrm>
            <a:off x="4572000" y="1143000"/>
            <a:ext cx="18288" cy="36576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Footer"/>
          <p:cNvSpPr/>
          <p:nvPr/>
        </p:nvSpPr>
        <p:spPr>
          <a:xfrm>
            <a:off x="457200" y="4891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</a:rPr>
              <a:t>collectrelay.com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 Section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4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REPORTS &amp; ANALYTICS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funnel, commission tracking, completion metrics, activity trends, and CSV export for data-driven decision making.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s Detail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Reports Dashboard</a:t>
            </a:r>
            <a:endParaRPr lang="en-US" sz="2000" dirty="0"/>
          </a:p>
        </p:txBody>
      </p:sp>
      <p:sp>
        <p:nvSpPr>
          <p:cNvPr id="4" name="Card1"/>
          <p:cNvSpPr/>
          <p:nvPr/>
        </p:nvSpPr>
        <p:spPr>
          <a:xfrm>
            <a:off x="457200" y="822960"/>
            <a:ext cx="39319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82880" tIns="137160" rIns="18288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</a:rPr>
              <a:t>Pipeline Funnel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Visualize your transaction pipeline from Draft through Active, In Review, Completed, and Cancelled stages. See counts and dollar values at each stage.</a:t>
            </a:r>
          </a:p>
        </p:txBody>
      </p:sp>
      <p:sp>
        <p:nvSpPr>
          <p:cNvPr id="5" name="Card1Accent"/>
          <p:cNvSpPr/>
          <p:nvPr/>
        </p:nvSpPr>
        <p:spPr>
          <a:xfrm>
            <a:off x="457200" y="8229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Card2"/>
          <p:cNvSpPr/>
          <p:nvPr/>
        </p:nvSpPr>
        <p:spPr>
          <a:xfrm>
            <a:off x="4572000" y="822960"/>
            <a:ext cx="39319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82880" tIns="137160" rIns="18288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</a:rPr>
              <a:t>Commission Tracker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Track earned, pending, and forecasted commissions. See a proportional breakdown bar showing your revenue pipeline at a glance.</a:t>
            </a:r>
          </a:p>
        </p:txBody>
      </p:sp>
      <p:sp>
        <p:nvSpPr>
          <p:cNvPr id="7" name="Card2Accent"/>
          <p:cNvSpPr/>
          <p:nvPr/>
        </p:nvSpPr>
        <p:spPr>
          <a:xfrm>
            <a:off x="4572000" y="82296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Card3"/>
          <p:cNvSpPr/>
          <p:nvPr/>
        </p:nvSpPr>
        <p:spPr>
          <a:xfrm>
            <a:off x="457200" y="2834640"/>
            <a:ext cx="39319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82880" tIns="137160" rIns="18288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</a:rPr>
              <a:t>Completion Metrics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Average days to close, average items per transaction, and total completed count. Measure efficiency and identify bottlenecks.</a:t>
            </a:r>
          </a:p>
        </p:txBody>
      </p:sp>
      <p:sp>
        <p:nvSpPr>
          <p:cNvPr id="9" name="Card3Accent"/>
          <p:cNvSpPr/>
          <p:nvPr/>
        </p:nvSpPr>
        <p:spPr>
          <a:xfrm>
            <a:off x="457200" y="283464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Card4"/>
          <p:cNvSpPr/>
          <p:nvPr/>
        </p:nvSpPr>
        <p:spPr>
          <a:xfrm>
            <a:off x="4572000" y="2834640"/>
            <a:ext cx="39319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82880" tIns="137160" rIns="18288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</a:rPr>
              <a:t>Activity Trends &amp; Export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Weekly and monthly activity charts showing transaction volume. Filter by date range (7d, 30d, 90d, all). Export all data to CSV.</a:t>
            </a:r>
          </a:p>
        </p:txBody>
      </p:sp>
      <p:sp>
        <p:nvSpPr>
          <p:cNvPr id="11" name="Card4Accent"/>
          <p:cNvSpPr/>
          <p:nvPr/>
        </p:nvSpPr>
        <p:spPr>
          <a:xfrm>
            <a:off x="4572000" y="283464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Footer"/>
          <p:cNvSpPr/>
          <p:nvPr/>
        </p:nvSpPr>
        <p:spPr>
          <a:xfrm>
            <a:off x="7406640" y="48912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</a:rPr>
              <a:t>collectrelay.com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am Section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14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MANAGEMENT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team members by email, assign roles, and manage workspace access with owner, admin, and member permissions.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dditional Features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0D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More Platform Features</a:t>
            </a:r>
            <a:endParaRPr lang="en-US" sz="2000" dirty="0"/>
          </a:p>
        </p:txBody>
      </p:sp>
      <p:sp>
        <p:nvSpPr>
          <p:cNvPr id="4" name="Card1"/>
          <p:cNvSpPr/>
          <p:nvPr/>
        </p:nvSpPr>
        <p:spPr>
          <a:xfrm>
            <a:off x="457200" y="822960"/>
            <a:ext cx="25603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37160" tIns="137160" rIns="13716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</a:rPr>
              <a:t>PWA &amp; Push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Install as a native app on any device. Get real-time push notifications for new submissions and status updates.</a:t>
            </a:r>
          </a:p>
        </p:txBody>
      </p:sp>
      <p:sp>
        <p:nvSpPr>
          <p:cNvPr id="5" name="Card1Accent"/>
          <p:cNvSpPr/>
          <p:nvPr/>
        </p:nvSpPr>
        <p:spPr>
          <a:xfrm>
            <a:off x="457200" y="8229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Card2"/>
          <p:cNvSpPr/>
          <p:nvPr/>
        </p:nvSpPr>
        <p:spPr>
          <a:xfrm>
            <a:off x="3200400" y="822960"/>
            <a:ext cx="25603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37160" tIns="137160" rIns="13716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</a:rPr>
              <a:t>REST API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Public API with key management for integrating CollectRelay into your existing tools and workflows.</a:t>
            </a:r>
          </a:p>
        </p:txBody>
      </p:sp>
      <p:sp>
        <p:nvSpPr>
          <p:cNvPr id="7" name="Card2Accent"/>
          <p:cNvSpPr/>
          <p:nvPr/>
        </p:nvSpPr>
        <p:spPr>
          <a:xfrm>
            <a:off x="3200400" y="82296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Card3"/>
          <p:cNvSpPr/>
          <p:nvPr/>
        </p:nvSpPr>
        <p:spPr>
          <a:xfrm>
            <a:off x="5943600" y="822960"/>
            <a:ext cx="25603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37160" tIns="137160" rIns="13716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</a:rPr>
              <a:t>Bulk Actions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Select multiple transactions to archive, export, change status, or delete in batch. Save time on routine operations.</a:t>
            </a:r>
          </a:p>
        </p:txBody>
      </p:sp>
      <p:sp>
        <p:nvSpPr>
          <p:cNvPr id="9" name="Card3Accent"/>
          <p:cNvSpPr/>
          <p:nvPr/>
        </p:nvSpPr>
        <p:spPr>
          <a:xfrm>
            <a:off x="5943600" y="82296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Card4"/>
          <p:cNvSpPr/>
          <p:nvPr/>
        </p:nvSpPr>
        <p:spPr>
          <a:xfrm>
            <a:off x="457200" y="2834640"/>
            <a:ext cx="25603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37160" tIns="137160" rIns="13716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</a:rPr>
              <a:t>Document Library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Searchable archive of all uploaded documents across transactions. Filter by type, date, or transaction. Download in bulk.</a:t>
            </a:r>
          </a:p>
        </p:txBody>
      </p:sp>
      <p:sp>
        <p:nvSpPr>
          <p:cNvPr id="11" name="Card4Accent"/>
          <p:cNvSpPr/>
          <p:nvPr/>
        </p:nvSpPr>
        <p:spPr>
          <a:xfrm>
            <a:off x="457200" y="2834640"/>
            <a:ext cx="54864" cy="1828800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Card5"/>
          <p:cNvSpPr/>
          <p:nvPr/>
        </p:nvSpPr>
        <p:spPr>
          <a:xfrm>
            <a:off x="3200400" y="2834640"/>
            <a:ext cx="25603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37160" tIns="137160" rIns="13716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</a:rPr>
              <a:t>Activity Feed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Real-time dashboard of all activity across your workspace. Track submissions, reviews, approvals, and status changes.</a:t>
            </a:r>
          </a:p>
        </p:txBody>
      </p:sp>
      <p:sp>
        <p:nvSpPr>
          <p:cNvPr id="13" name="Card5Accent"/>
          <p:cNvSpPr/>
          <p:nvPr/>
        </p:nvSpPr>
        <p:spPr>
          <a:xfrm>
            <a:off x="3200400" y="283464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Card6"/>
          <p:cNvSpPr/>
          <p:nvPr/>
        </p:nvSpPr>
        <p:spPr>
          <a:xfrm>
            <a:off x="5943600" y="2834640"/>
            <a:ext cx="2560320" cy="1828800"/>
          </a:xfrm>
          <a:prstGeom prst="rect">
            <a:avLst/>
          </a:prstGeom>
          <a:solidFill>
            <a:srgbClr val="141428"/>
          </a:solidFill>
          <a:ln/>
        </p:spPr>
        <p:txBody>
          <a:bodyPr wrap="square" lIns="137160" tIns="137160" rIns="137160" bIns="137160" rtlCol="0" anchor="t"/>
          <a:lstStyle/>
          <a:p>
            <a:pPr marL="0" indent="0">
              <a:buNone/>
              <a:spcAft>
                <a:spcPts val="400"/>
              </a:spcAft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</a:rPr>
              <a:t>Custom Branding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</a:rPr>
              <a:t>White-label the client portal with your logo, brand colors, and company name for a seamless client experience.</a:t>
            </a:r>
          </a:p>
        </p:txBody>
      </p:sp>
      <p:sp>
        <p:nvSpPr>
          <p:cNvPr id="15" name="Card6Accent"/>
          <p:cNvSpPr/>
          <p:nvPr/>
        </p:nvSpPr>
        <p:spPr>
          <a:xfrm>
            <a:off x="5943600" y="2834640"/>
            <a:ext cx="54864" cy="18288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Footer"/>
          <p:cNvSpPr/>
          <p:nvPr/>
        </p:nvSpPr>
        <p:spPr>
          <a:xfrm>
            <a:off x="7406640" y="48912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</a:rPr>
              <a:t>collectrelay.com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935</Words>
  <Application>Microsoft Macintosh PowerPoint</Application>
  <PresentationFormat>On-screen Show (16:9)</PresentationFormat>
  <Paragraphs>82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CollectRelay — Platform Walkthrough</dc:title>
  <dc:subject>PptxGenJS Presentation</dc:subject>
  <dc:creator>CollectRelay</dc:creator>
  <cp:lastModifiedBy>Matthew Price</cp:lastModifiedBy>
  <cp:revision>3</cp:revision>
  <dcterms:created xsi:type="dcterms:W3CDTF">2026-03-11T02:19:28Z</dcterms:created>
  <dcterms:modified xsi:type="dcterms:W3CDTF">2026-03-11T02:36:35Z</dcterms:modified>
</cp:coreProperties>
</file>