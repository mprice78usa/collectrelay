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31519" y="1645920"/>
            <a:ext cx="54865" cy="16459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1005839" y="1435100"/>
            <a:ext cx="7315201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CollectRelay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005839" y="2246501"/>
            <a:ext cx="73152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10B981"/>
                </a:solidFill>
              </a:defRPr>
            </a:lvl1pPr>
          </a:lstStyle>
          <a:p>
            <a:pPr/>
            <a:r>
              <a:t>Platform Walkthrough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005839" y="3060000"/>
            <a:ext cx="6400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A detailed how-to guide for professionals and their clients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Accent 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itle"/>
          <p:cNvSpPr txBox="1"/>
          <p:nvPr/>
        </p:nvSpPr>
        <p:spPr>
          <a:xfrm>
            <a:off x="457200" y="248919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400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EVERYTHING YOU NEED</a:t>
            </a:r>
          </a:p>
        </p:txBody>
      </p:sp>
      <p:sp>
        <p:nvSpPr>
          <p:cNvPr id="29" name="Subtitle"/>
          <p:cNvSpPr txBox="1"/>
          <p:nvPr/>
        </p:nvSpPr>
        <p:spPr>
          <a:xfrm>
            <a:off x="457200" y="774000"/>
            <a:ext cx="82296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0B981"/>
                </a:solidFill>
              </a:defRPr>
            </a:lvl1pPr>
          </a:lstStyle>
          <a:p>
            <a:pPr/>
            <a:r>
              <a:t>All-in-one document collection platform for professionals and their clients</a:t>
            </a:r>
          </a:p>
        </p:txBody>
      </p:sp>
      <p:sp>
        <p:nvSpPr>
          <p:cNvPr id="30" name="Divider"/>
          <p:cNvSpPr/>
          <p:nvPr/>
        </p:nvSpPr>
        <p:spPr>
          <a:xfrm>
            <a:off x="457200" y="1051560"/>
            <a:ext cx="8229600" cy="18289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Left Column"/>
          <p:cNvSpPr txBox="1"/>
          <p:nvPr/>
        </p:nvSpPr>
        <p:spPr>
          <a:xfrm>
            <a:off x="457199" y="1143000"/>
            <a:ext cx="4023361" cy="2209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Transaction Management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Create and track deals with checklists, milestones, partners, and status workflows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Document Collection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Secure client portal for uploading, reviewing, and approving documents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Templates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Save and reuse transaction templates with pre-built checklists and milestones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Reports &amp; Analytics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Pipeline funnel, commission tracker, completion metrics, and activity trends with CSV export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Team Management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Invite team members, assign roles (owner/admin/member), and manage workspace access</a:t>
            </a:r>
          </a:p>
        </p:txBody>
      </p:sp>
      <p:sp>
        <p:nvSpPr>
          <p:cNvPr id="32" name="Right Column"/>
          <p:cNvSpPr txBox="1"/>
          <p:nvPr/>
        </p:nvSpPr>
        <p:spPr>
          <a:xfrm>
            <a:off x="4663440" y="1143000"/>
            <a:ext cx="4023360" cy="2070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Activity Dashboard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Real-time feed of submissions, reviews, and status changes across all transactions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Document Library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Searchable archive of all uploaded documents with filtering and bulk downloads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Bulk Actions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Select multiple transactions to archive, export, change status, or delete in batch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API &amp; Webhooks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REST API with key management, plus webhook integrations for real-time event notifications</a:t>
            </a:r>
          </a:p>
          <a:p>
            <a:pPr>
              <a:spcBef>
                <a:spcPts val="200"/>
              </a:spcBef>
              <a:defRPr b="1" sz="1100">
                <a:solidFill>
                  <a:srgbClr val="10B981"/>
                </a:solidFill>
              </a:defRPr>
            </a:pPr>
            <a:r>
              <a:t>PWA &amp; Push Notifications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Install as a native app on any device with real-time push notifications for updates</a:t>
            </a:r>
          </a:p>
        </p:txBody>
      </p:sp>
      <p:sp>
        <p:nvSpPr>
          <p:cNvPr id="33" name="Column Divider"/>
          <p:cNvSpPr/>
          <p:nvPr/>
        </p:nvSpPr>
        <p:spPr>
          <a:xfrm>
            <a:off x="4572000" y="1143000"/>
            <a:ext cx="18289" cy="365760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Footer"/>
          <p:cNvSpPr txBox="1"/>
          <p:nvPr/>
        </p:nvSpPr>
        <p:spPr>
          <a:xfrm>
            <a:off x="457200" y="4947127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2"/>
          <p:cNvSpPr txBox="1"/>
          <p:nvPr/>
        </p:nvSpPr>
        <p:spPr>
          <a:xfrm>
            <a:off x="731519" y="1545589"/>
            <a:ext cx="77724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400"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PRO SIDE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731519" y="3014543"/>
            <a:ext cx="68580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4A3B8"/>
                </a:solidFill>
              </a:defRPr>
            </a:lvl1pPr>
          </a:lstStyle>
          <a:p>
            <a:pPr/>
            <a:r>
              <a:t>The agent/professional dashboard for managing transactions, reviewing documents, and tracking progress.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2"/>
          <p:cNvSpPr txBox="1"/>
          <p:nvPr/>
        </p:nvSpPr>
        <p:spPr>
          <a:xfrm>
            <a:off x="6629400" y="365759"/>
            <a:ext cx="2286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Dashboard</a:t>
            </a:r>
          </a:p>
        </p:txBody>
      </p:sp>
      <p:sp>
        <p:nvSpPr>
          <p:cNvPr id="45" name="Text 3"/>
          <p:cNvSpPr txBox="1"/>
          <p:nvPr/>
        </p:nvSpPr>
        <p:spPr>
          <a:xfrm>
            <a:off x="6400800" y="914400"/>
            <a:ext cx="246888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Your command center. Shows active/in-review/completed transaction counts, pipeline value, expected commissions, pending sales with progress bars, and a real-time activity feed of all client actions.</a:t>
            </a:r>
          </a:p>
        </p:txBody>
      </p:sp>
      <p:sp>
        <p:nvSpPr>
          <p:cNvPr id="46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2"/>
          <p:cNvSpPr txBox="1"/>
          <p:nvPr/>
        </p:nvSpPr>
        <p:spPr>
          <a:xfrm>
            <a:off x="6629400" y="365759"/>
            <a:ext cx="2286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Transactions List</a:t>
            </a:r>
          </a:p>
        </p:txBody>
      </p:sp>
      <p:sp>
        <p:nvSpPr>
          <p:cNvPr id="52" name="Text 3"/>
          <p:cNvSpPr txBox="1"/>
          <p:nvPr/>
        </p:nvSpPr>
        <p:spPr>
          <a:xfrm>
            <a:off x="6400800" y="914400"/>
            <a:ext cx="246888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All your document collection requests in one place. Filter by status (Active, In Review, Completed, Cancelled). Each card shows client name, email, progress bar, due date, and status badge.</a:t>
            </a:r>
          </a:p>
        </p:txBody>
      </p:sp>
      <p:sp>
        <p:nvSpPr>
          <p:cNvPr id="53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Transaction Detail — Header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6413500" y="1117600"/>
            <a:ext cx="2468881" cy="1124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Shows transaction title, client info, progress tracker (2/8 items), sale price, commission, due date, and custom fields (Escrow Company, Loan Officer, MLS#). Action bar: Invite, Download All, Resend Email, Copy Link, Nudge, Mark In Review, Cancel.</a:t>
            </a:r>
          </a:p>
        </p:txBody>
      </p:sp>
      <p:sp>
        <p:nvSpPr>
          <p:cNvPr id="60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Checklist — Accepted Item</a:t>
            </a:r>
          </a:p>
        </p:txBody>
      </p:sp>
      <p:sp>
        <p:nvSpPr>
          <p:cNvPr id="66" name="Text 3"/>
          <p:cNvSpPr txBox="1"/>
          <p:nvPr/>
        </p:nvSpPr>
        <p:spPr>
          <a:xfrm>
            <a:off x="6400800" y="1092200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Item 1 shows ACCEPTED status with the uploaded file, AI-generated summary (star icon), and a green review note. The AI summary reads the document and produces a 1-2 sentence description so you can triage without opening every file.</a:t>
            </a:r>
          </a:p>
        </p:txBody>
      </p:sp>
      <p:sp>
        <p:nvSpPr>
          <p:cNvPr id="67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7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Checklist — Review Actions</a:t>
            </a:r>
          </a:p>
        </p:txBody>
      </p:sp>
      <p:sp>
        <p:nvSpPr>
          <p:cNvPr id="73" name="Text 3"/>
          <p:cNvSpPr txBox="1"/>
          <p:nvPr/>
        </p:nvSpPr>
        <p:spPr>
          <a:xfrm>
            <a:off x="6400800" y="1092200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Item 2 is SUBMITTED with two uploaded files. One file has a completed AI summary, the other shows "Analyzing..." (in progress). Three action buttons: Accept (green), Reject (red), Waive (blue). Click to review each submitted item.</a:t>
            </a:r>
          </a:p>
        </p:txBody>
      </p:sp>
      <p:sp>
        <p:nvSpPr>
          <p:cNvPr id="74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"/>
          <p:cNvSpPr txBox="1"/>
          <p:nvPr/>
        </p:nvSpPr>
        <p:spPr>
          <a:xfrm>
            <a:off x="6629400" y="365759"/>
            <a:ext cx="2286000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Checklist — Questions, Checkboxes &amp; Signatures</a:t>
            </a:r>
          </a:p>
        </p:txBody>
      </p:sp>
      <p:sp>
        <p:nvSpPr>
          <p:cNvPr id="80" name="Text 3"/>
          <p:cNvSpPr txBox="1"/>
          <p:nvPr/>
        </p:nvSpPr>
        <p:spPr>
          <a:xfrm>
            <a:off x="6400800" y="1763750"/>
            <a:ext cx="246888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Item 6: Question type showing the client's text answer. Item 7: Checkbox type showing the client's confirmation. Item 8: Signature type — awaiting the client's e-signature via draw or type mode.</a:t>
            </a:r>
          </a:p>
        </p:txBody>
      </p:sp>
      <p:sp>
        <p:nvSpPr>
          <p:cNvPr id="81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Key Dates &amp; Milestones</a:t>
            </a:r>
          </a:p>
        </p:txBody>
      </p:sp>
      <p:sp>
        <p:nvSpPr>
          <p:cNvPr id="87" name="Text 3"/>
          <p:cNvSpPr txBox="1"/>
          <p:nvPr/>
        </p:nvSpPr>
        <p:spPr>
          <a:xfrm>
            <a:off x="6400800" y="1063702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Timeline of key dates: Contract Date, Inspection Deadline, Appraisal Due, Financing Contingency, Closing. Check off completed milestones. Add custom milestones with the form below. Click "Add to Calendar" to export.</a:t>
            </a:r>
          </a:p>
        </p:txBody>
      </p:sp>
      <p:sp>
        <p:nvSpPr>
          <p:cNvPr id="88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"/>
          <p:cNvSpPr txBox="1"/>
          <p:nvPr/>
        </p:nvSpPr>
        <p:spPr>
          <a:xfrm>
            <a:off x="6629400" y="365759"/>
            <a:ext cx="2286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Partner Access</a:t>
            </a:r>
          </a:p>
        </p:txBody>
      </p:sp>
      <p:sp>
        <p:nvSpPr>
          <p:cNvPr id="94" name="Text 3"/>
          <p:cNvSpPr txBox="1"/>
          <p:nvPr/>
        </p:nvSpPr>
        <p:spPr>
          <a:xfrm>
            <a:off x="6400800" y="914400"/>
            <a:ext cx="246888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Invite partners (lenders, title companies, inspectors) to view transaction progress. Enter name, email, and role. Partners get read-only access to see checklist status without seeing private client documents.</a:t>
            </a:r>
          </a:p>
        </p:txBody>
      </p:sp>
      <p:sp>
        <p:nvSpPr>
          <p:cNvPr id="95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Create New Transaction</a:t>
            </a:r>
          </a:p>
        </p:txBody>
      </p:sp>
      <p:sp>
        <p:nvSpPr>
          <p:cNvPr id="101" name="Text 3"/>
          <p:cNvSpPr txBox="1"/>
          <p:nvPr/>
        </p:nvSpPr>
        <p:spPr>
          <a:xfrm>
            <a:off x="6400800" y="914400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Start a new document collection request. Choose a template, enter client info (name, email, phone), set the transaction title, due date, and optional deal details (sale price, commission rate — auto-calculates commission amount).</a:t>
            </a:r>
          </a:p>
        </p:txBody>
      </p:sp>
      <p:sp>
        <p:nvSpPr>
          <p:cNvPr id="102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2"/>
          <p:cNvSpPr txBox="1"/>
          <p:nvPr/>
        </p:nvSpPr>
        <p:spPr>
          <a:xfrm>
            <a:off x="6629400" y="365759"/>
            <a:ext cx="2286000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Template Selection + Preview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6400800" y="1420544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When you select a template (e.g., "Purchase Standard"), the right panel shows a live preview of all checklist items that will be created. Each item shows its type (Doc, Question, Signature) and whether it's required.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1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2"/>
          <p:cNvSpPr txBox="1"/>
          <p:nvPr/>
        </p:nvSpPr>
        <p:spPr>
          <a:xfrm>
            <a:off x="6629400" y="365759"/>
            <a:ext cx="2286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Templates Library</a:t>
            </a:r>
          </a:p>
        </p:txBody>
      </p:sp>
      <p:sp>
        <p:nvSpPr>
          <p:cNvPr id="115" name="Text 3"/>
          <p:cNvSpPr txBox="1"/>
          <p:nvPr/>
        </p:nvSpPr>
        <p:spPr>
          <a:xfrm>
            <a:off x="6400800" y="914400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Manage reusable checklist templates. Four starter templates included: Pre-Approval, Purchase, Refinance, Seller Packet. Filter by category. Duplicate or delete any template. Click "+ New Template" to create custom ones.</a:t>
            </a:r>
          </a:p>
        </p:txBody>
      </p:sp>
      <p:sp>
        <p:nvSpPr>
          <p:cNvPr id="116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1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2"/>
          <p:cNvSpPr txBox="1"/>
          <p:nvPr/>
        </p:nvSpPr>
        <p:spPr>
          <a:xfrm>
            <a:off x="6629400" y="365759"/>
            <a:ext cx="2286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Template Editor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6400800" y="914400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Edit a template's checklist items. Each item shows its name, description, type badge (Document, Question, Signature), and required status. Click the edit icon to modify, trash icon to remove, or "+ Add Item" to add new items.</a:t>
            </a:r>
          </a:p>
        </p:txBody>
      </p:sp>
      <p:sp>
        <p:nvSpPr>
          <p:cNvPr id="123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Settings — Profile &amp; Workspace</a:t>
            </a:r>
          </a:p>
        </p:txBody>
      </p:sp>
      <p:sp>
        <p:nvSpPr>
          <p:cNvPr id="129" name="Text 3"/>
          <p:cNvSpPr txBox="1"/>
          <p:nvPr/>
        </p:nvSpPr>
        <p:spPr>
          <a:xfrm>
            <a:off x="6400800" y="1066800"/>
            <a:ext cx="2468881" cy="62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Update your name, company, and phone number. Manage your workspace name and view your role (Owner). Email address is locked to your login credential.</a:t>
            </a:r>
          </a:p>
        </p:txBody>
      </p:sp>
      <p:sp>
        <p:nvSpPr>
          <p:cNvPr id="130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Settings — Billing &amp; Notifications</a:t>
            </a:r>
          </a:p>
        </p:txBody>
      </p:sp>
      <p:sp>
        <p:nvSpPr>
          <p:cNvPr id="136" name="Text 3"/>
          <p:cNvSpPr txBox="1"/>
          <p:nvPr/>
        </p:nvSpPr>
        <p:spPr>
          <a:xfrm>
            <a:off x="6400800" y="1104900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View your current plan and subscription status. Toggle email notifications: Client Submissions (when files/answers arrive), Item Review Reminders (when items await your review), Transaction Completed (when all items are done).</a:t>
            </a:r>
          </a:p>
        </p:txBody>
      </p:sp>
      <p:sp>
        <p:nvSpPr>
          <p:cNvPr id="137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Settings — Webhooks</a:t>
            </a:r>
          </a:p>
        </p:txBody>
      </p:sp>
      <p:sp>
        <p:nvSpPr>
          <p:cNvPr id="143" name="Text 3"/>
          <p:cNvSpPr txBox="1"/>
          <p:nvPr/>
        </p:nvSpPr>
        <p:spPr>
          <a:xfrm>
            <a:off x="6400800" y="1117600"/>
            <a:ext cx="2468881" cy="1289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Connect CollectRelay to any external service (CRM, Zapier, etc.). Enter an endpoint URL, optional description, and select which events to listen for: File Uploaded, Answer Submitted, Signature Submitted, Item Reviewed, Status Changed, Comment Added, Magic Link Sent, Reminder Sent.</a:t>
            </a:r>
          </a:p>
        </p:txBody>
      </p:sp>
      <p:sp>
        <p:nvSpPr>
          <p:cNvPr id="144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2"/>
          <p:cNvSpPr txBox="1"/>
          <p:nvPr/>
        </p:nvSpPr>
        <p:spPr>
          <a:xfrm>
            <a:off x="731519" y="1170939"/>
            <a:ext cx="7772401" cy="149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400"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REPORTS &amp; ANALYTICS</a:t>
            </a:r>
          </a:p>
        </p:txBody>
      </p:sp>
      <p:sp>
        <p:nvSpPr>
          <p:cNvPr id="149" name="Text 3"/>
          <p:cNvSpPr txBox="1"/>
          <p:nvPr/>
        </p:nvSpPr>
        <p:spPr>
          <a:xfrm>
            <a:off x="731519" y="3014543"/>
            <a:ext cx="68580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4A3B8"/>
                </a:solidFill>
              </a:defRPr>
            </a:lvl1pPr>
          </a:lstStyle>
          <a:p>
            <a:pPr/>
            <a:r>
              <a:t>Pipeline funnel, commission tracking, completion metrics, activity trends, and CSV export for data-driven decision making.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itle"/>
          <p:cNvSpPr txBox="1"/>
          <p:nvPr/>
        </p:nvSpPr>
        <p:spPr>
          <a:xfrm>
            <a:off x="457200" y="325119"/>
            <a:ext cx="822960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Reports Dashboard</a:t>
            </a:r>
          </a:p>
        </p:txBody>
      </p:sp>
      <p:grpSp>
        <p:nvGrpSpPr>
          <p:cNvPr id="155" name="Card1"/>
          <p:cNvGrpSpPr/>
          <p:nvPr/>
        </p:nvGrpSpPr>
        <p:grpSpPr>
          <a:xfrm>
            <a:off x="457199" y="822960"/>
            <a:ext cx="3931922" cy="1828801"/>
            <a:chOff x="0" y="0"/>
            <a:chExt cx="3931920" cy="1828800"/>
          </a:xfrm>
        </p:grpSpPr>
        <p:sp>
          <p:nvSpPr>
            <p:cNvPr id="153" name="Rectangle"/>
            <p:cNvSpPr/>
            <p:nvPr/>
          </p:nvSpPr>
          <p:spPr>
            <a:xfrm>
              <a:off x="-1" y="0"/>
              <a:ext cx="39319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" name="Pipeline Funnel…"/>
            <p:cNvSpPr txBox="1"/>
            <p:nvPr/>
          </p:nvSpPr>
          <p:spPr>
            <a:xfrm>
              <a:off x="45719" y="0"/>
              <a:ext cx="3840481" cy="1018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10B981"/>
                  </a:solidFill>
                </a:defRPr>
              </a:pPr>
              <a:r>
                <a:t>Pipeline Funnel</a:t>
              </a:r>
            </a:p>
            <a:p>
              <a:pPr>
                <a:defRPr sz="1100">
                  <a:solidFill>
                    <a:srgbClr val="94A3B8"/>
                  </a:solidFill>
                </a:defRPr>
              </a:pPr>
              <a:r>
                <a:t>Visualize your transaction pipeline from Draft through Active, In Review, Completed, and Cancelled stages. See counts and dollar values at each stage.</a:t>
              </a:r>
            </a:p>
          </p:txBody>
        </p:sp>
      </p:grpSp>
      <p:sp>
        <p:nvSpPr>
          <p:cNvPr id="156" name="Card1Accent"/>
          <p:cNvSpPr/>
          <p:nvPr/>
        </p:nvSpPr>
        <p:spPr>
          <a:xfrm>
            <a:off x="457200" y="822960"/>
            <a:ext cx="54864" cy="182880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9" name="Card2"/>
          <p:cNvGrpSpPr/>
          <p:nvPr/>
        </p:nvGrpSpPr>
        <p:grpSpPr>
          <a:xfrm>
            <a:off x="4571999" y="822960"/>
            <a:ext cx="3931922" cy="1828801"/>
            <a:chOff x="0" y="0"/>
            <a:chExt cx="3931920" cy="1828800"/>
          </a:xfrm>
        </p:grpSpPr>
        <p:sp>
          <p:nvSpPr>
            <p:cNvPr id="157" name="Rectangle"/>
            <p:cNvSpPr/>
            <p:nvPr/>
          </p:nvSpPr>
          <p:spPr>
            <a:xfrm>
              <a:off x="-1" y="0"/>
              <a:ext cx="39319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" name="Commission Tracker…"/>
            <p:cNvSpPr txBox="1"/>
            <p:nvPr/>
          </p:nvSpPr>
          <p:spPr>
            <a:xfrm>
              <a:off x="45719" y="0"/>
              <a:ext cx="3840481" cy="1018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F59E0B"/>
                  </a:solidFill>
                </a:defRPr>
              </a:pPr>
              <a:r>
                <a:t>Commission Tracker</a:t>
              </a:r>
            </a:p>
            <a:p>
              <a:pPr>
                <a:defRPr sz="1100">
                  <a:solidFill>
                    <a:srgbClr val="94A3B8"/>
                  </a:solidFill>
                </a:defRPr>
              </a:pPr>
              <a:r>
                <a:t>Track earned, pending, and forecasted commissions. See a proportional breakdown bar showing your revenue pipeline at a glance.</a:t>
              </a:r>
            </a:p>
          </p:txBody>
        </p:sp>
      </p:grpSp>
      <p:sp>
        <p:nvSpPr>
          <p:cNvPr id="160" name="Card2Accent"/>
          <p:cNvSpPr/>
          <p:nvPr/>
        </p:nvSpPr>
        <p:spPr>
          <a:xfrm>
            <a:off x="4572000" y="822960"/>
            <a:ext cx="54864" cy="18288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3" name="Card3"/>
          <p:cNvGrpSpPr/>
          <p:nvPr/>
        </p:nvGrpSpPr>
        <p:grpSpPr>
          <a:xfrm>
            <a:off x="457199" y="2834639"/>
            <a:ext cx="3931922" cy="1828801"/>
            <a:chOff x="0" y="0"/>
            <a:chExt cx="3931920" cy="1828800"/>
          </a:xfrm>
        </p:grpSpPr>
        <p:sp>
          <p:nvSpPr>
            <p:cNvPr id="161" name="Rectangle"/>
            <p:cNvSpPr/>
            <p:nvPr/>
          </p:nvSpPr>
          <p:spPr>
            <a:xfrm>
              <a:off x="-1" y="0"/>
              <a:ext cx="39319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2" name="Completion Metrics…"/>
            <p:cNvSpPr txBox="1"/>
            <p:nvPr/>
          </p:nvSpPr>
          <p:spPr>
            <a:xfrm>
              <a:off x="45719" y="0"/>
              <a:ext cx="3840481" cy="85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3B82F6"/>
                  </a:solidFill>
                </a:defRPr>
              </a:pPr>
              <a:r>
                <a:t>Completion Metrics</a:t>
              </a:r>
            </a:p>
            <a:p>
              <a:pPr>
                <a:defRPr sz="1100">
                  <a:solidFill>
                    <a:srgbClr val="94A3B8"/>
                  </a:solidFill>
                </a:defRPr>
              </a:pPr>
              <a:r>
                <a:t>Average days to close, average items per transaction, and total completed count. Measure efficiency and identify bottlenecks.</a:t>
              </a:r>
            </a:p>
          </p:txBody>
        </p:sp>
      </p:grpSp>
      <p:sp>
        <p:nvSpPr>
          <p:cNvPr id="164" name="Card3Accent"/>
          <p:cNvSpPr/>
          <p:nvPr/>
        </p:nvSpPr>
        <p:spPr>
          <a:xfrm>
            <a:off x="457200" y="2834639"/>
            <a:ext cx="54864" cy="182880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7" name="Card4"/>
          <p:cNvGrpSpPr/>
          <p:nvPr/>
        </p:nvGrpSpPr>
        <p:grpSpPr>
          <a:xfrm>
            <a:off x="4571999" y="2834639"/>
            <a:ext cx="3931922" cy="1828801"/>
            <a:chOff x="0" y="0"/>
            <a:chExt cx="3931920" cy="1828800"/>
          </a:xfrm>
        </p:grpSpPr>
        <p:sp>
          <p:nvSpPr>
            <p:cNvPr id="165" name="Rectangle"/>
            <p:cNvSpPr/>
            <p:nvPr/>
          </p:nvSpPr>
          <p:spPr>
            <a:xfrm>
              <a:off x="-1" y="0"/>
              <a:ext cx="39319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6" name="Activity Trends &amp; Export…"/>
            <p:cNvSpPr txBox="1"/>
            <p:nvPr/>
          </p:nvSpPr>
          <p:spPr>
            <a:xfrm>
              <a:off x="45719" y="0"/>
              <a:ext cx="3840481" cy="1018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EF4444"/>
                  </a:solidFill>
                </a:defRPr>
              </a:pPr>
              <a:r>
                <a:t>Activity Trends &amp; Export</a:t>
              </a:r>
            </a:p>
            <a:p>
              <a:pPr>
                <a:defRPr sz="1100">
                  <a:solidFill>
                    <a:srgbClr val="94A3B8"/>
                  </a:solidFill>
                </a:defRPr>
              </a:pPr>
              <a:r>
                <a:t>Weekly and monthly activity charts showing transaction volume. Filter by date range (7d, 30d, 90d, all). Export all data to CSV.</a:t>
              </a:r>
            </a:p>
          </p:txBody>
        </p:sp>
      </p:grpSp>
      <p:sp>
        <p:nvSpPr>
          <p:cNvPr id="168" name="Card4Accent"/>
          <p:cNvSpPr/>
          <p:nvPr/>
        </p:nvSpPr>
        <p:spPr>
          <a:xfrm>
            <a:off x="4572000" y="2834639"/>
            <a:ext cx="54864" cy="18288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Footer"/>
          <p:cNvSpPr txBox="1"/>
          <p:nvPr/>
        </p:nvSpPr>
        <p:spPr>
          <a:xfrm>
            <a:off x="7406640" y="4947127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2"/>
          <p:cNvSpPr txBox="1"/>
          <p:nvPr/>
        </p:nvSpPr>
        <p:spPr>
          <a:xfrm>
            <a:off x="731519" y="1545589"/>
            <a:ext cx="77724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400"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TEAM MANAGEMENT</a:t>
            </a:r>
          </a:p>
        </p:txBody>
      </p:sp>
      <p:sp>
        <p:nvSpPr>
          <p:cNvPr id="174" name="Text 3"/>
          <p:cNvSpPr txBox="1"/>
          <p:nvPr/>
        </p:nvSpPr>
        <p:spPr>
          <a:xfrm>
            <a:off x="731519" y="3014543"/>
            <a:ext cx="68580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4A3B8"/>
                </a:solidFill>
              </a:defRPr>
            </a:lvl1pPr>
          </a:lstStyle>
          <a:p>
            <a:pPr/>
            <a:r>
              <a:t>Invite team members by email, assign roles, and manage workspace access with owner, admin, and member permissions.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itle"/>
          <p:cNvSpPr txBox="1"/>
          <p:nvPr/>
        </p:nvSpPr>
        <p:spPr>
          <a:xfrm>
            <a:off x="457200" y="325119"/>
            <a:ext cx="822960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More Platform Features</a:t>
            </a:r>
          </a:p>
        </p:txBody>
      </p:sp>
      <p:grpSp>
        <p:nvGrpSpPr>
          <p:cNvPr id="180" name="Card1"/>
          <p:cNvGrpSpPr/>
          <p:nvPr/>
        </p:nvGrpSpPr>
        <p:grpSpPr>
          <a:xfrm>
            <a:off x="457199" y="822960"/>
            <a:ext cx="2560322" cy="1828801"/>
            <a:chOff x="0" y="0"/>
            <a:chExt cx="2560320" cy="1828800"/>
          </a:xfrm>
        </p:grpSpPr>
        <p:sp>
          <p:nvSpPr>
            <p:cNvPr id="178" name="Rectangle"/>
            <p:cNvSpPr/>
            <p:nvPr/>
          </p:nvSpPr>
          <p:spPr>
            <a:xfrm>
              <a:off x="-1" y="0"/>
              <a:ext cx="25603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9" name="PWA &amp; Push…"/>
            <p:cNvSpPr txBox="1"/>
            <p:nvPr/>
          </p:nvSpPr>
          <p:spPr>
            <a:xfrm>
              <a:off x="-1" y="0"/>
              <a:ext cx="2560322" cy="1020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10B981"/>
                  </a:solidFill>
                </a:defRPr>
              </a:pPr>
              <a:r>
                <a:t>PWA &amp; Push</a:t>
              </a:r>
            </a:p>
            <a:p>
              <a:pPr>
                <a:defRPr sz="1000">
                  <a:solidFill>
                    <a:srgbClr val="94A3B8"/>
                  </a:solidFill>
                </a:defRPr>
              </a:pPr>
              <a:r>
                <a:t>Install as a native app on any device. Get real-time push notifications for new submissions and status updates.</a:t>
              </a:r>
            </a:p>
          </p:txBody>
        </p:sp>
      </p:grpSp>
      <p:sp>
        <p:nvSpPr>
          <p:cNvPr id="181" name="Card1Accent"/>
          <p:cNvSpPr/>
          <p:nvPr/>
        </p:nvSpPr>
        <p:spPr>
          <a:xfrm>
            <a:off x="457200" y="822960"/>
            <a:ext cx="54864" cy="182880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4" name="Card2"/>
          <p:cNvGrpSpPr/>
          <p:nvPr/>
        </p:nvGrpSpPr>
        <p:grpSpPr>
          <a:xfrm>
            <a:off x="3200399" y="822960"/>
            <a:ext cx="2560322" cy="1828801"/>
            <a:chOff x="0" y="0"/>
            <a:chExt cx="2560320" cy="1828800"/>
          </a:xfrm>
        </p:grpSpPr>
        <p:sp>
          <p:nvSpPr>
            <p:cNvPr id="182" name="Rectangle"/>
            <p:cNvSpPr/>
            <p:nvPr/>
          </p:nvSpPr>
          <p:spPr>
            <a:xfrm>
              <a:off x="-1" y="0"/>
              <a:ext cx="25603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3" name="REST API…"/>
            <p:cNvSpPr txBox="1"/>
            <p:nvPr/>
          </p:nvSpPr>
          <p:spPr>
            <a:xfrm>
              <a:off x="-1" y="0"/>
              <a:ext cx="2560322" cy="1020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3B82F6"/>
                  </a:solidFill>
                </a:defRPr>
              </a:pPr>
              <a:r>
                <a:t>REST API</a:t>
              </a:r>
            </a:p>
            <a:p>
              <a:pPr>
                <a:defRPr sz="1000">
                  <a:solidFill>
                    <a:srgbClr val="94A3B8"/>
                  </a:solidFill>
                </a:defRPr>
              </a:pPr>
              <a:r>
                <a:t>Public API with key management for integrating CollectRelay into your existing tools and workflows.</a:t>
              </a:r>
            </a:p>
          </p:txBody>
        </p:sp>
      </p:grpSp>
      <p:sp>
        <p:nvSpPr>
          <p:cNvPr id="185" name="Card2Accent"/>
          <p:cNvSpPr/>
          <p:nvPr/>
        </p:nvSpPr>
        <p:spPr>
          <a:xfrm>
            <a:off x="3200400" y="822960"/>
            <a:ext cx="54864" cy="182880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8" name="Card3"/>
          <p:cNvGrpSpPr/>
          <p:nvPr/>
        </p:nvGrpSpPr>
        <p:grpSpPr>
          <a:xfrm>
            <a:off x="5943599" y="822960"/>
            <a:ext cx="2560322" cy="1828801"/>
            <a:chOff x="0" y="0"/>
            <a:chExt cx="2560320" cy="1828800"/>
          </a:xfrm>
        </p:grpSpPr>
        <p:sp>
          <p:nvSpPr>
            <p:cNvPr id="186" name="Rectangle"/>
            <p:cNvSpPr/>
            <p:nvPr/>
          </p:nvSpPr>
          <p:spPr>
            <a:xfrm>
              <a:off x="-1" y="0"/>
              <a:ext cx="25603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" name="Bulk Actions…"/>
            <p:cNvSpPr txBox="1"/>
            <p:nvPr/>
          </p:nvSpPr>
          <p:spPr>
            <a:xfrm>
              <a:off x="-1" y="0"/>
              <a:ext cx="2560322" cy="1020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F59E0B"/>
                  </a:solidFill>
                </a:defRPr>
              </a:pPr>
              <a:r>
                <a:t>Bulk Actions</a:t>
              </a:r>
            </a:p>
            <a:p>
              <a:pPr>
                <a:defRPr sz="1000">
                  <a:solidFill>
                    <a:srgbClr val="94A3B8"/>
                  </a:solidFill>
                </a:defRPr>
              </a:pPr>
              <a:r>
                <a:t>Select multiple transactions to archive, export, change status, or delete in batch. Save time on routine operations.</a:t>
              </a:r>
            </a:p>
          </p:txBody>
        </p:sp>
      </p:grpSp>
      <p:sp>
        <p:nvSpPr>
          <p:cNvPr id="189" name="Card3Accent"/>
          <p:cNvSpPr/>
          <p:nvPr/>
        </p:nvSpPr>
        <p:spPr>
          <a:xfrm>
            <a:off x="5943600" y="822960"/>
            <a:ext cx="54864" cy="18288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2" name="Card4"/>
          <p:cNvGrpSpPr/>
          <p:nvPr/>
        </p:nvGrpSpPr>
        <p:grpSpPr>
          <a:xfrm>
            <a:off x="457199" y="2834639"/>
            <a:ext cx="2560322" cy="1828801"/>
            <a:chOff x="0" y="0"/>
            <a:chExt cx="2560320" cy="1828800"/>
          </a:xfrm>
        </p:grpSpPr>
        <p:sp>
          <p:nvSpPr>
            <p:cNvPr id="190" name="Rectangle"/>
            <p:cNvSpPr/>
            <p:nvPr/>
          </p:nvSpPr>
          <p:spPr>
            <a:xfrm>
              <a:off x="-1" y="0"/>
              <a:ext cx="25603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1" name="Document Library…"/>
            <p:cNvSpPr txBox="1"/>
            <p:nvPr/>
          </p:nvSpPr>
          <p:spPr>
            <a:xfrm>
              <a:off x="-1" y="0"/>
              <a:ext cx="2560322" cy="11860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A855F7"/>
                  </a:solidFill>
                </a:defRPr>
              </a:pPr>
              <a:r>
                <a:t>Document Library</a:t>
              </a:r>
            </a:p>
            <a:p>
              <a:pPr>
                <a:defRPr sz="1000">
                  <a:solidFill>
                    <a:srgbClr val="94A3B8"/>
                  </a:solidFill>
                </a:defRPr>
              </a:pPr>
              <a:r>
                <a:t>Searchable archive of all uploaded documents across transactions. Filter by type, date, or transaction. Download in bulk.</a:t>
              </a:r>
            </a:p>
          </p:txBody>
        </p:sp>
      </p:grpSp>
      <p:sp>
        <p:nvSpPr>
          <p:cNvPr id="193" name="Card4Accent"/>
          <p:cNvSpPr/>
          <p:nvPr/>
        </p:nvSpPr>
        <p:spPr>
          <a:xfrm>
            <a:off x="457200" y="2834639"/>
            <a:ext cx="54864" cy="1828801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6" name="Card5"/>
          <p:cNvGrpSpPr/>
          <p:nvPr/>
        </p:nvGrpSpPr>
        <p:grpSpPr>
          <a:xfrm>
            <a:off x="3200399" y="2834639"/>
            <a:ext cx="2560322" cy="1828801"/>
            <a:chOff x="0" y="0"/>
            <a:chExt cx="2560320" cy="1828800"/>
          </a:xfrm>
        </p:grpSpPr>
        <p:sp>
          <p:nvSpPr>
            <p:cNvPr id="194" name="Rectangle"/>
            <p:cNvSpPr/>
            <p:nvPr/>
          </p:nvSpPr>
          <p:spPr>
            <a:xfrm>
              <a:off x="-1" y="0"/>
              <a:ext cx="25603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" name="Activity Feed…"/>
            <p:cNvSpPr txBox="1"/>
            <p:nvPr/>
          </p:nvSpPr>
          <p:spPr>
            <a:xfrm>
              <a:off x="-1" y="0"/>
              <a:ext cx="2560322" cy="1020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EF4444"/>
                  </a:solidFill>
                </a:defRPr>
              </a:pPr>
              <a:r>
                <a:t>Activity Feed</a:t>
              </a:r>
            </a:p>
            <a:p>
              <a:pPr>
                <a:defRPr sz="1000">
                  <a:solidFill>
                    <a:srgbClr val="94A3B8"/>
                  </a:solidFill>
                </a:defRPr>
              </a:pPr>
              <a:r>
                <a:t>Real-time dashboard of all activity across your workspace. Track submissions, reviews, approvals, and status changes.</a:t>
              </a:r>
            </a:p>
          </p:txBody>
        </p:sp>
      </p:grpSp>
      <p:sp>
        <p:nvSpPr>
          <p:cNvPr id="197" name="Card5Accent"/>
          <p:cNvSpPr/>
          <p:nvPr/>
        </p:nvSpPr>
        <p:spPr>
          <a:xfrm>
            <a:off x="3200400" y="2834639"/>
            <a:ext cx="54864" cy="18288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00" name="Card6"/>
          <p:cNvGrpSpPr/>
          <p:nvPr/>
        </p:nvGrpSpPr>
        <p:grpSpPr>
          <a:xfrm>
            <a:off x="5943599" y="2834639"/>
            <a:ext cx="2560322" cy="1828801"/>
            <a:chOff x="0" y="0"/>
            <a:chExt cx="2560320" cy="1828800"/>
          </a:xfrm>
        </p:grpSpPr>
        <p:sp>
          <p:nvSpPr>
            <p:cNvPr id="198" name="Rectangle"/>
            <p:cNvSpPr/>
            <p:nvPr/>
          </p:nvSpPr>
          <p:spPr>
            <a:xfrm>
              <a:off x="-1" y="0"/>
              <a:ext cx="2560322" cy="1828800"/>
            </a:xfrm>
            <a:prstGeom prst="rect">
              <a:avLst/>
            </a:prstGeom>
            <a:solidFill>
              <a:srgbClr val="14142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" name="Custom Branding…"/>
            <p:cNvSpPr txBox="1"/>
            <p:nvPr/>
          </p:nvSpPr>
          <p:spPr>
            <a:xfrm>
              <a:off x="-1" y="0"/>
              <a:ext cx="2560322" cy="1020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7160" tIns="137160" rIns="137160" bIns="137160" numCol="1" anchor="t">
              <a:spAutoFit/>
            </a:bodyPr>
            <a:lstStyle/>
            <a:p>
              <a:pPr>
                <a:spcBef>
                  <a:spcPts val="400"/>
                </a:spcBef>
                <a:defRPr b="1" sz="1400">
                  <a:solidFill>
                    <a:srgbClr val="EC4899"/>
                  </a:solidFill>
                </a:defRPr>
              </a:pPr>
              <a:r>
                <a:t>Custom Branding</a:t>
              </a:r>
            </a:p>
            <a:p>
              <a:pPr>
                <a:defRPr sz="1000">
                  <a:solidFill>
                    <a:srgbClr val="94A3B8"/>
                  </a:solidFill>
                </a:defRPr>
              </a:pPr>
              <a:r>
                <a:t>White-label the client portal with your logo, brand colors, and company name for a seamless client experience.</a:t>
              </a:r>
            </a:p>
          </p:txBody>
        </p:sp>
      </p:grpSp>
      <p:sp>
        <p:nvSpPr>
          <p:cNvPr id="201" name="Card6Accent"/>
          <p:cNvSpPr/>
          <p:nvPr/>
        </p:nvSpPr>
        <p:spPr>
          <a:xfrm>
            <a:off x="5943600" y="2834639"/>
            <a:ext cx="54864" cy="1828801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Footer"/>
          <p:cNvSpPr txBox="1"/>
          <p:nvPr/>
        </p:nvSpPr>
        <p:spPr>
          <a:xfrm>
            <a:off x="7406640" y="4947127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2"/>
          <p:cNvSpPr txBox="1"/>
          <p:nvPr/>
        </p:nvSpPr>
        <p:spPr>
          <a:xfrm>
            <a:off x="731519" y="1545589"/>
            <a:ext cx="77724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400"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CLIENT SIDE</a:t>
            </a:r>
          </a:p>
        </p:txBody>
      </p:sp>
      <p:sp>
        <p:nvSpPr>
          <p:cNvPr id="207" name="Text 3"/>
          <p:cNvSpPr txBox="1"/>
          <p:nvPr/>
        </p:nvSpPr>
        <p:spPr>
          <a:xfrm>
            <a:off x="731519" y="3014543"/>
            <a:ext cx="68580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4A3B8"/>
                </a:solidFill>
              </a:defRPr>
            </a:lvl1pPr>
          </a:lstStyle>
          <a:p>
            <a:pPr/>
            <a:r>
              <a:t>What your clients see when they open their magic link. No login required — they click the link in their email and land directly on their checklist.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2"/>
          <p:cNvSpPr txBox="1"/>
          <p:nvPr/>
        </p:nvSpPr>
        <p:spPr>
          <a:xfrm>
            <a:off x="6629400" y="365759"/>
            <a:ext cx="2286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Client Portal — Overview</a:t>
            </a:r>
          </a:p>
        </p:txBody>
      </p:sp>
      <p:sp>
        <p:nvSpPr>
          <p:cNvPr id="213" name="Text 3"/>
          <p:cNvSpPr txBox="1"/>
          <p:nvPr/>
        </p:nvSpPr>
        <p:spPr>
          <a:xfrm>
            <a:off x="6400800" y="1104900"/>
            <a:ext cx="2468881" cy="1124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Clients see their transaction title, due date, a step-by-step progress tracker (Requested → Uploading → Under Review → Complete), and their checklist. Completed items collapse with a green checkmark. Items needing attention expand with instructions.</a:t>
            </a:r>
          </a:p>
        </p:txBody>
      </p:sp>
      <p:sp>
        <p:nvSpPr>
          <p:cNvPr id="214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320039" y="320039"/>
            <a:ext cx="5760722" cy="41605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365759"/>
            <a:ext cx="5669281" cy="4069081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Shape 1"/>
          <p:cNvSpPr/>
          <p:nvPr/>
        </p:nvSpPr>
        <p:spPr>
          <a:xfrm>
            <a:off x="6355079" y="502919"/>
            <a:ext cx="128017" cy="128017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2"/>
          <p:cNvSpPr txBox="1"/>
          <p:nvPr/>
        </p:nvSpPr>
        <p:spPr>
          <a:xfrm>
            <a:off x="6629400" y="365759"/>
            <a:ext cx="2286000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Client Portal — Upload &amp; Comments</a:t>
            </a:r>
          </a:p>
        </p:txBody>
      </p:sp>
      <p:sp>
        <p:nvSpPr>
          <p:cNvPr id="220" name="Text 3"/>
          <p:cNvSpPr txBox="1"/>
          <p:nvPr/>
        </p:nvSpPr>
        <p:spPr>
          <a:xfrm>
            <a:off x="6400800" y="1392043"/>
            <a:ext cx="2468881" cy="95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Expanded item shows: red feedback banner if the pro requested changes, a drag-and-drop upload zone (PDF, JPG, PNG up to 50MB), and a comment thread. Clients and pros can message back and forth on any checklist item in real time.</a:t>
            </a:r>
          </a:p>
        </p:txBody>
      </p:sp>
      <p:sp>
        <p:nvSpPr>
          <p:cNvPr id="221" name="Text 5"/>
          <p:cNvSpPr txBox="1"/>
          <p:nvPr/>
        </p:nvSpPr>
        <p:spPr>
          <a:xfrm>
            <a:off x="6858000" y="482853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"/>
          <p:cNvSpPr txBox="1"/>
          <p:nvPr/>
        </p:nvSpPr>
        <p:spPr>
          <a:xfrm>
            <a:off x="914400" y="1701799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CollectRelay</a:t>
            </a:r>
          </a:p>
        </p:txBody>
      </p:sp>
      <p:sp>
        <p:nvSpPr>
          <p:cNvPr id="225" name="Text 2"/>
          <p:cNvSpPr txBox="1"/>
          <p:nvPr/>
        </p:nvSpPr>
        <p:spPr>
          <a:xfrm>
            <a:off x="914400" y="2622376"/>
            <a:ext cx="73152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0B981"/>
                </a:solidFill>
              </a:defRPr>
            </a:lvl1pPr>
          </a:lstStyle>
          <a:p>
            <a:pPr/>
            <a:r>
              <a:t>Document collection, simplified.</a:t>
            </a:r>
          </a:p>
        </p:txBody>
      </p:sp>
      <p:sp>
        <p:nvSpPr>
          <p:cNvPr id="226" name="Text 3"/>
          <p:cNvSpPr txBox="1"/>
          <p:nvPr/>
        </p:nvSpPr>
        <p:spPr>
          <a:xfrm>
            <a:off x="914400" y="3608640"/>
            <a:ext cx="73152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collectrelay.com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